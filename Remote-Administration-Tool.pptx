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65" r:id="rId2"/>
    <p:sldId id="264" r:id="rId3"/>
    <p:sldId id="266" r:id="rId4"/>
    <p:sldId id="268" r:id="rId5"/>
    <p:sldId id="273" r:id="rId6"/>
    <p:sldId id="269" r:id="rId7"/>
    <p:sldId id="274" r:id="rId8"/>
    <p:sldId id="275" r:id="rId9"/>
    <p:sldId id="276" r:id="rId10"/>
    <p:sldId id="270" r:id="rId11"/>
    <p:sldId id="278" r:id="rId12"/>
    <p:sldId id="279" r:id="rId13"/>
    <p:sldId id="277" r:id="rId14"/>
    <p:sldId id="280" r:id="rId15"/>
    <p:sldId id="271" r:id="rId16"/>
  </p:sldIdLst>
  <p:sldSz cx="14630400" cy="8229600"/>
  <p:notesSz cx="8229600" cy="14630400"/>
  <p:embeddedFontLst>
    <p:embeddedFont>
      <p:font typeface="DM Sans Semi Bold" panose="020B0604020202020204" charset="0"/>
      <p:regular r:id="rId18"/>
    </p:embeddedFont>
    <p:embeddedFont>
      <p:font typeface="Inter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45E88-4AD0-796B-70AA-55D15CCAA3EB}" v="3713" dt="2025-01-09T18:15:29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8A86F-3C4B-4711-A492-E322239F8480}" type="datetimeFigureOut"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2E7C7-B788-4A50-BFB2-7961451A61B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48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2480463-51AF-72E6-C30A-15AC522E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E3759BF-95D5-5B78-F045-E74D2F93BADD}"/>
              </a:ext>
            </a:extLst>
          </p:cNvPr>
          <p:cNvSpPr/>
          <p:nvPr/>
        </p:nvSpPr>
        <p:spPr>
          <a:xfrm>
            <a:off x="5877854" y="1014317"/>
            <a:ext cx="8714661" cy="148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5000" b="1" dirty="0">
                <a:solidFill>
                  <a:srgbClr val="030303"/>
                </a:solidFill>
                <a:latin typeface="DM Sans Semi Bold"/>
              </a:rPr>
              <a:t>Remote Administration Tool</a:t>
            </a:r>
            <a:endParaRPr lang="en-US" sz="5000" b="1">
              <a:ea typeface="Calibri"/>
              <a:cs typeface="Calibri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83FBBA8-5457-A334-1D45-DB591B656510}"/>
              </a:ext>
            </a:extLst>
          </p:cNvPr>
          <p:cNvSpPr/>
          <p:nvPr/>
        </p:nvSpPr>
        <p:spPr>
          <a:xfrm>
            <a:off x="6962942" y="1859280"/>
            <a:ext cx="7251621" cy="171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b="1" dirty="0">
                <a:solidFill>
                  <a:srgbClr val="464646"/>
                </a:solidFill>
                <a:latin typeface="Inter Medium"/>
                <a:ea typeface="Inter Medium"/>
              </a:rPr>
              <a:t>Sistem de </a:t>
            </a:r>
            <a:r>
              <a:rPr lang="en-US" sz="2400" b="1" err="1">
                <a:solidFill>
                  <a:srgbClr val="464646"/>
                </a:solidFill>
                <a:latin typeface="Inter Medium"/>
                <a:ea typeface="Inter Medium"/>
              </a:rPr>
              <a:t>gestiune</a:t>
            </a:r>
            <a:r>
              <a:rPr lang="en-US" sz="2400" b="1" dirty="0">
                <a:solidFill>
                  <a:srgbClr val="464646"/>
                </a:solidFill>
                <a:latin typeface="Inter Medium"/>
                <a:ea typeface="Inter Medium"/>
              </a:rPr>
              <a:t> al </a:t>
            </a:r>
            <a:r>
              <a:rPr lang="en-US" sz="2400" b="1" err="1">
                <a:solidFill>
                  <a:srgbClr val="464646"/>
                </a:solidFill>
                <a:latin typeface="Inter Medium"/>
                <a:ea typeface="Inter Medium"/>
              </a:rPr>
              <a:t>statiilor</a:t>
            </a:r>
            <a:r>
              <a:rPr lang="en-US" sz="2400" b="1" dirty="0">
                <a:solidFill>
                  <a:srgbClr val="464646"/>
                </a:solidFill>
                <a:latin typeface="Inter Medium"/>
                <a:ea typeface="Inter Medium"/>
              </a:rPr>
              <a:t> de la </a:t>
            </a:r>
            <a:r>
              <a:rPr lang="en-US" sz="2400" b="1" err="1">
                <a:solidFill>
                  <a:srgbClr val="464646"/>
                </a:solidFill>
                <a:latin typeface="Inter Medium"/>
                <a:ea typeface="Inter Medium"/>
              </a:rPr>
              <a:t>distanta</a:t>
            </a:r>
            <a:endParaRPr lang="en-US" sz="2400" b="1">
              <a:solidFill>
                <a:srgbClr val="464646"/>
              </a:solidFill>
              <a:latin typeface="Inter Medium"/>
              <a:ea typeface="Inter Medium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D6D12C4-619F-25B5-6B7A-4ED2FAB343DB}"/>
              </a:ext>
            </a:extLst>
          </p:cNvPr>
          <p:cNvSpPr/>
          <p:nvPr/>
        </p:nvSpPr>
        <p:spPr>
          <a:xfrm>
            <a:off x="9024152" y="6964751"/>
            <a:ext cx="5197358" cy="75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100"/>
              </a:lnSpc>
            </a:pPr>
            <a:r>
              <a:rPr lang="en-US" sz="2200" b="1" err="1">
                <a:solidFill>
                  <a:srgbClr val="464646"/>
                </a:solidFill>
                <a:latin typeface="Inter Bold"/>
                <a:ea typeface="Inter Bold"/>
                <a:cs typeface="Inter Bold" pitchFamily="34" charset="-120"/>
              </a:rPr>
              <a:t>Shanab</a:t>
            </a:r>
            <a:r>
              <a:rPr lang="en-US" sz="2200" b="1">
                <a:solidFill>
                  <a:srgbClr val="464646"/>
                </a:solidFill>
                <a:latin typeface="Inter Bold"/>
                <a:ea typeface="Inter Bold"/>
                <a:cs typeface="Inter Bold" pitchFamily="34" charset="-120"/>
              </a:rPr>
              <a:t> Bianca</a:t>
            </a:r>
            <a:endParaRPr lang="en-US" sz="2200" b="1">
              <a:solidFill>
                <a:srgbClr val="464646"/>
              </a:solidFill>
              <a:latin typeface="Calibri"/>
              <a:ea typeface="Calibri"/>
              <a:cs typeface="Calibri"/>
            </a:endParaRPr>
          </a:p>
          <a:p>
            <a:pPr algn="r">
              <a:lnSpc>
                <a:spcPts val="3100"/>
              </a:lnSpc>
            </a:pPr>
            <a:r>
              <a:rPr lang="en-US" sz="2200" b="1" dirty="0">
                <a:solidFill>
                  <a:srgbClr val="464646"/>
                </a:solidFill>
                <a:latin typeface="Inter Bold"/>
                <a:ea typeface="Inter Bold"/>
              </a:rPr>
              <a:t>Moldovan Andrei-Gabriel</a:t>
            </a:r>
          </a:p>
        </p:txBody>
      </p:sp>
    </p:spTree>
    <p:extLst>
      <p:ext uri="{BB962C8B-B14F-4D97-AF65-F5344CB8AC3E}">
        <p14:creationId xmlns:p14="http://schemas.microsoft.com/office/powerpoint/2010/main" val="227044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F3862CE-045B-B295-5045-C868620EDA61}"/>
              </a:ext>
            </a:extLst>
          </p:cNvPr>
          <p:cNvSpPr/>
          <p:nvPr/>
        </p:nvSpPr>
        <p:spPr>
          <a:xfrm>
            <a:off x="793790" y="21770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Scopul Proiectului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DE6D280-2B10-F032-3937-158C01B17629}"/>
              </a:ext>
            </a:extLst>
          </p:cNvPr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Obiective</a:t>
            </a:r>
            <a:endParaRPr lang="en-US" sz="2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8E4E9B6-B8E9-312D-F28F-97D0C2D7B9E6}"/>
              </a:ext>
            </a:extLst>
          </p:cNvPr>
          <p:cNvSpPr/>
          <p:nvPr/>
        </p:nvSpPr>
        <p:spPr>
          <a:xfrm>
            <a:off x="793790" y="403395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Management </a:t>
            </a:r>
            <a:r>
              <a:rPr lang="en-US" sz="1750" b="1" dirty="0" err="1">
                <a:solidFill>
                  <a:srgbClr val="464646"/>
                </a:solidFill>
                <a:latin typeface="Inter Medium"/>
                <a:ea typeface="Inter Medium"/>
              </a:rPr>
              <a:t>eficient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dirty="0" err="1">
                <a:solidFill>
                  <a:srgbClr val="464646"/>
                </a:solidFill>
                <a:latin typeface="Inter Medium"/>
                <a:ea typeface="Inter Medium"/>
              </a:rPr>
              <a:t>si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dirty="0" err="1">
                <a:solidFill>
                  <a:srgbClr val="464646"/>
                </a:solidFill>
                <a:latin typeface="Inter Medium"/>
                <a:ea typeface="Inter Medium"/>
              </a:rPr>
              <a:t>monitorizare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dirty="0" err="1">
                <a:solidFill>
                  <a:srgbClr val="464646"/>
                </a:solidFill>
                <a:latin typeface="Inter Medium"/>
                <a:ea typeface="Inter Medium"/>
              </a:rPr>
              <a:t>facila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dirty="0" err="1">
                <a:solidFill>
                  <a:srgbClr val="464646"/>
                </a:solidFill>
                <a:latin typeface="Inter Medium"/>
                <a:ea typeface="Inter Medium"/>
              </a:rPr>
              <a:t>pentru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multiple </a:t>
            </a:r>
            <a:r>
              <a:rPr lang="en-US" sz="1750" b="1" dirty="0" err="1">
                <a:solidFill>
                  <a:srgbClr val="464646"/>
                </a:solidFill>
                <a:latin typeface="Inter Medium"/>
                <a:ea typeface="Inter Medium"/>
              </a:rPr>
              <a:t>statii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dirty="0" err="1">
                <a:solidFill>
                  <a:srgbClr val="464646"/>
                </a:solidFill>
                <a:latin typeface="Inter Medium"/>
                <a:ea typeface="Inter Medium"/>
              </a:rPr>
              <a:t>simultan</a:t>
            </a:r>
            <a:endParaRPr lang="en-US" sz="1750" b="1" dirty="0">
              <a:solidFill>
                <a:srgbClr val="464646"/>
              </a:solidFill>
              <a:latin typeface="Inter Medium"/>
              <a:ea typeface="Inter Medium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B9CA354-1882-67BD-0977-208841C4FF87}"/>
              </a:ext>
            </a:extLst>
          </p:cNvPr>
          <p:cNvSpPr/>
          <p:nvPr/>
        </p:nvSpPr>
        <p:spPr>
          <a:xfrm>
            <a:off x="7599521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Funcționalități</a:t>
            </a:r>
            <a:endParaRPr lang="en-US" sz="2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0DD6003-3284-61C8-95B4-7D602F8203E5}"/>
              </a:ext>
            </a:extLst>
          </p:cNvPr>
          <p:cNvSpPr/>
          <p:nvPr/>
        </p:nvSpPr>
        <p:spPr>
          <a:xfrm>
            <a:off x="7599521" y="4119301"/>
            <a:ext cx="6488549" cy="172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Server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centralizator</a:t>
            </a:r>
            <a:endParaRPr lang="en-US" sz="1750" b="1">
              <a:solidFill>
                <a:srgbClr val="464646"/>
              </a:solidFill>
              <a:latin typeface="Inter Medium"/>
              <a:ea typeface="Inter Medium"/>
            </a:endParaRPr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Mai multi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agenti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care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coleacteaza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date de pe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calculatoare</a:t>
            </a:r>
            <a:endParaRPr lang="en-US" sz="1750" b="1">
              <a:solidFill>
                <a:srgbClr val="464646"/>
              </a:solidFill>
              <a:latin typeface="Inter Medium"/>
              <a:ea typeface="Inter Medium"/>
            </a:endParaRPr>
          </a:p>
          <a:p>
            <a:pPr marL="285750" indent="-285750">
              <a:buFont typeface="Arial"/>
              <a:buChar char="•"/>
            </a:pP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Poate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executa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comenzi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pe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mai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multe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calculatoare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simultan</a:t>
            </a:r>
            <a:endParaRPr lang="en-US" sz="1750" b="1">
              <a:solidFill>
                <a:srgbClr val="464646"/>
              </a:solidFill>
              <a:latin typeface="Inter Medium"/>
              <a:ea typeface="Inter Medium"/>
            </a:endParaRPr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Screenshot-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uri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/live stream</a:t>
            </a:r>
            <a:endParaRPr lang="en-US" sz="1750" b="1">
              <a:solidFill>
                <a:srgbClr val="464646"/>
              </a:solidFill>
              <a:latin typeface="Inter Medium"/>
              <a:ea typeface="Inter Medium"/>
            </a:endParaRPr>
          </a:p>
          <a:p>
            <a:pPr marL="285750" indent="-285750">
              <a:buFont typeface="Arial"/>
              <a:buChar char="•"/>
            </a:pPr>
            <a:r>
              <a:rPr lang="en-US" sz="1750" b="1">
                <a:solidFill>
                  <a:srgbClr val="464646"/>
                </a:solidFill>
                <a:latin typeface="Inter Medium"/>
                <a:ea typeface="Inter Medium"/>
              </a:rPr>
              <a:t>Alerte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accesare</a:t>
            </a:r>
            <a:r>
              <a:rPr lang="en-US" sz="1750" b="1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anumite</a:t>
            </a:r>
            <a:r>
              <a:rPr lang="en-US" sz="1750" b="1">
                <a:solidFill>
                  <a:srgbClr val="464646"/>
                </a:solidFill>
                <a:latin typeface="Inter Medium"/>
                <a:ea typeface="Inter Medium"/>
              </a:rPr>
              <a:t> site-</a:t>
            </a:r>
            <a:r>
              <a:rPr lang="en-US" sz="1750" b="1" err="1">
                <a:solidFill>
                  <a:srgbClr val="464646"/>
                </a:solidFill>
                <a:latin typeface="Inter Medium"/>
                <a:ea typeface="Inter Medium"/>
              </a:rPr>
              <a:t>uri</a:t>
            </a:r>
            <a:endParaRPr lang="en-US" sz="1750" b="1">
              <a:solidFill>
                <a:srgbClr val="464646"/>
              </a:solidFill>
              <a:latin typeface="Inter Medium"/>
              <a:ea typeface="Inter Medium"/>
            </a:endParaRPr>
          </a:p>
          <a:p>
            <a:pPr marL="0" indent="0">
              <a:lnSpc>
                <a:spcPts val="2850"/>
              </a:lnSpc>
              <a:buNone/>
            </a:pPr>
            <a:endParaRPr lang="en-US" sz="1750" dirty="0">
              <a:solidFill>
                <a:srgbClr val="464646"/>
              </a:solidFill>
              <a:latin typeface="Inter Medium"/>
              <a:ea typeface="Inter Medium"/>
              <a:cs typeface="Inter Medium" pitchFamily="34" charset="-120"/>
            </a:endParaRP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464646"/>
              </a:solidFill>
              <a:latin typeface="Inter Medium"/>
              <a:ea typeface="Inter Medium"/>
            </a:endParaRP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464646"/>
              </a:solidFill>
              <a:latin typeface="Inter Medium"/>
              <a:ea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6209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C2572E7-714D-F599-3BD7-D15C5167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874B992-6A24-FA44-BC0C-9A796F305A3C}"/>
              </a:ext>
            </a:extLst>
          </p:cNvPr>
          <p:cNvSpPr/>
          <p:nvPr/>
        </p:nvSpPr>
        <p:spPr>
          <a:xfrm>
            <a:off x="6234470" y="759381"/>
            <a:ext cx="5344001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Cerințe Funcționale</a:t>
            </a:r>
            <a:endParaRPr lang="en-US" sz="42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610977A-7F8F-E86C-0D9A-D2B3DDE79597}"/>
              </a:ext>
            </a:extLst>
          </p:cNvPr>
          <p:cNvSpPr/>
          <p:nvPr/>
        </p:nvSpPr>
        <p:spPr>
          <a:xfrm>
            <a:off x="6234470" y="1988344"/>
            <a:ext cx="480893" cy="4808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3FC749F-ADCC-5613-11AD-54763D015E61}"/>
              </a:ext>
            </a:extLst>
          </p:cNvPr>
          <p:cNvSpPr/>
          <p:nvPr/>
        </p:nvSpPr>
        <p:spPr>
          <a:xfrm>
            <a:off x="6419136" y="2068473"/>
            <a:ext cx="111562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EDBA52D-2524-35C6-DEE6-3A42B8AB1338}"/>
              </a:ext>
            </a:extLst>
          </p:cNvPr>
          <p:cNvSpPr/>
          <p:nvPr/>
        </p:nvSpPr>
        <p:spPr>
          <a:xfrm>
            <a:off x="6929080" y="1988344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Conexiune</a:t>
            </a:r>
            <a:endParaRPr lang="en-US" sz="21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E87A976-9C53-A7F8-921F-C784FC3BD2DE}"/>
              </a:ext>
            </a:extLst>
          </p:cNvPr>
          <p:cNvSpPr/>
          <p:nvPr/>
        </p:nvSpPr>
        <p:spPr>
          <a:xfrm>
            <a:off x="6929080" y="2450544"/>
            <a:ext cx="3022521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Realizarea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conexiunii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la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mai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mulți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clienți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simultan și va prelua date despre hostname și username.</a:t>
            </a:r>
            <a:endParaRPr lang="en-US" sz="1650" dirty="0">
              <a:latin typeface="Inter Medium"/>
              <a:ea typeface="Inter Medium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58AA7C77-7A90-FBA8-ADFC-AA9EF0459E1F}"/>
              </a:ext>
            </a:extLst>
          </p:cNvPr>
          <p:cNvSpPr/>
          <p:nvPr/>
        </p:nvSpPr>
        <p:spPr>
          <a:xfrm>
            <a:off x="10165318" y="1988344"/>
            <a:ext cx="480893" cy="4808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F15CE11-7FAD-41C6-BFC7-5E4FC0511B11}"/>
              </a:ext>
            </a:extLst>
          </p:cNvPr>
          <p:cNvSpPr/>
          <p:nvPr/>
        </p:nvSpPr>
        <p:spPr>
          <a:xfrm>
            <a:off x="10313194" y="2068473"/>
            <a:ext cx="18502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8115113A-6FDC-C552-C85F-931C504F3D76}"/>
              </a:ext>
            </a:extLst>
          </p:cNvPr>
          <p:cNvSpPr/>
          <p:nvPr/>
        </p:nvSpPr>
        <p:spPr>
          <a:xfrm>
            <a:off x="10859929" y="1988344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Informații de Sistem</a:t>
            </a:r>
            <a:endParaRPr lang="en-US" sz="21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6C5FA4B-F481-912F-520A-0D0A32FEF7D3}"/>
              </a:ext>
            </a:extLst>
          </p:cNvPr>
          <p:cNvSpPr/>
          <p:nvPr/>
        </p:nvSpPr>
        <p:spPr>
          <a:xfrm>
            <a:off x="10859929" y="2450544"/>
            <a:ext cx="3022521" cy="23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Informații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despre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hostname, username,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utilizare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memorie RAM, utilizare procesor, spațiu disponibil pe disk, prin intermediul unei interfete Web.</a:t>
            </a:r>
            <a:endParaRPr lang="en-US" sz="1650" dirty="0">
              <a:latin typeface="Inter Medium"/>
              <a:ea typeface="Inter Medium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7EBD3E1D-18A5-E31E-C5B8-68E68AFB3107}"/>
              </a:ext>
            </a:extLst>
          </p:cNvPr>
          <p:cNvSpPr/>
          <p:nvPr/>
        </p:nvSpPr>
        <p:spPr>
          <a:xfrm>
            <a:off x="6234470" y="5298281"/>
            <a:ext cx="480893" cy="4808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9A7E76AD-098D-C6E6-6237-A6946257F6A5}"/>
              </a:ext>
            </a:extLst>
          </p:cNvPr>
          <p:cNvSpPr/>
          <p:nvPr/>
        </p:nvSpPr>
        <p:spPr>
          <a:xfrm>
            <a:off x="6378893" y="5378410"/>
            <a:ext cx="192048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4D20D367-3230-FEA9-FAFD-989544C5A993}"/>
              </a:ext>
            </a:extLst>
          </p:cNvPr>
          <p:cNvSpPr/>
          <p:nvPr/>
        </p:nvSpPr>
        <p:spPr>
          <a:xfrm>
            <a:off x="6929080" y="5298281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Execuție Comenzi</a:t>
            </a:r>
            <a:endParaRPr lang="en-US" sz="21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7F318D15-3381-C2B0-993C-8313DBFAB47E}"/>
              </a:ext>
            </a:extLst>
          </p:cNvPr>
          <p:cNvSpPr/>
          <p:nvPr/>
        </p:nvSpPr>
        <p:spPr>
          <a:xfrm>
            <a:off x="6929080" y="5760482"/>
            <a:ext cx="3022521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Executarea comenzilor se va face prin trimiterea unei comenzi de către server clientului și primirea output-ului acestuia.</a:t>
            </a:r>
            <a:endParaRPr lang="en-US" sz="165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678DE625-21E2-5AD4-1840-A0B59A1BD9A4}"/>
              </a:ext>
            </a:extLst>
          </p:cNvPr>
          <p:cNvSpPr/>
          <p:nvPr/>
        </p:nvSpPr>
        <p:spPr>
          <a:xfrm>
            <a:off x="10165318" y="5298281"/>
            <a:ext cx="480893" cy="4808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77B98D2F-78B5-F606-5C8A-CA31D018C66B}"/>
              </a:ext>
            </a:extLst>
          </p:cNvPr>
          <p:cNvSpPr/>
          <p:nvPr/>
        </p:nvSpPr>
        <p:spPr>
          <a:xfrm>
            <a:off x="10303431" y="5378410"/>
            <a:ext cx="204549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5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D6F307B7-6A00-F486-1F88-942CFADE1AC3}"/>
              </a:ext>
            </a:extLst>
          </p:cNvPr>
          <p:cNvSpPr/>
          <p:nvPr/>
        </p:nvSpPr>
        <p:spPr>
          <a:xfrm>
            <a:off x="10859929" y="5298281"/>
            <a:ext cx="3022521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Actualizare în Timp Real</a:t>
            </a:r>
            <a:endParaRPr lang="en-US" sz="21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DEF45B92-13B5-DC10-4050-81653B6B1CB7}"/>
              </a:ext>
            </a:extLst>
          </p:cNvPr>
          <p:cNvSpPr/>
          <p:nvPr/>
        </p:nvSpPr>
        <p:spPr>
          <a:xfrm>
            <a:off x="10859929" y="6094452"/>
            <a:ext cx="3022521" cy="10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Actualizarea în timp real a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listei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de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clienți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conectati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la server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si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a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statisticilor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6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acestora</a:t>
            </a:r>
            <a:r>
              <a:rPr lang="en-US" sz="16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89612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5CC17EF-AC45-C2B3-3473-441FC9393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F838A01-2253-BC2B-E214-8C8B596D7073}"/>
              </a:ext>
            </a:extLst>
          </p:cNvPr>
          <p:cNvSpPr/>
          <p:nvPr/>
        </p:nvSpPr>
        <p:spPr>
          <a:xfrm>
            <a:off x="793790" y="3821430"/>
            <a:ext cx="7180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Securitate și Autentificare</a:t>
            </a:r>
            <a:endParaRPr lang="en-US" sz="44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4D039A2-667D-F824-08C9-DDE4170E9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4F585CC-FC9D-00F3-049E-7F122F688D08}"/>
              </a:ext>
            </a:extLst>
          </p:cNvPr>
          <p:cNvSpPr/>
          <p:nvPr/>
        </p:nvSpPr>
        <p:spPr>
          <a:xfrm>
            <a:off x="793790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Autentificare</a:t>
            </a:r>
            <a:endParaRPr lang="en-US" sz="2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CDA2DDF-1650-FF69-64B2-238AB67C4C53}"/>
              </a:ext>
            </a:extLst>
          </p:cNvPr>
          <p:cNvSpPr/>
          <p:nvPr/>
        </p:nvSpPr>
        <p:spPr>
          <a:xfrm>
            <a:off x="793790" y="6154579"/>
            <a:ext cx="63512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Confirmarea identitatii 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sistemelor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se 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va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face 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prin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crearea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unui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username format din 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name@hostname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 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și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al </a:t>
            </a:r>
            <a:r>
              <a:rPr lang="en-US" sz="17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unui</a:t>
            </a:r>
            <a:r>
              <a:rPr lang="en-US" sz="17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token</a:t>
            </a:r>
            <a:endParaRPr lang="en-US" sz="1750" dirty="0">
              <a:solidFill>
                <a:srgbClr val="464646"/>
              </a:solidFill>
              <a:latin typeface="Inter Medium"/>
              <a:ea typeface="Inter Medium"/>
            </a:endParaRP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071D161-8958-B928-34E2-60CBA6FEA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870371"/>
            <a:ext cx="566976" cy="56697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5C260FD1-148C-72DE-C669-D48FEDAA1590}"/>
              </a:ext>
            </a:extLst>
          </p:cNvPr>
          <p:cNvSpPr/>
          <p:nvPr/>
        </p:nvSpPr>
        <p:spPr>
          <a:xfrm>
            <a:off x="7485221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Token-uri Unice</a:t>
            </a:r>
            <a:endParaRPr lang="en-US" sz="22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F52083D-9DA9-B975-9D2D-1338780E2752}"/>
              </a:ext>
            </a:extLst>
          </p:cNvPr>
          <p:cNvSpPr/>
          <p:nvPr/>
        </p:nvSpPr>
        <p:spPr>
          <a:xfrm>
            <a:off x="7485221" y="6154579"/>
            <a:ext cx="63513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Protocol de autentificare/inregistrare - realizat cu token-uri unice generate de către server pentru securitate folosind libraria uuid.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99096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DA0C8FBA-475D-57DD-03A1-B11058897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" y="5306568"/>
            <a:ext cx="6327648" cy="93268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A99986C-3F78-ED9C-5EF2-075448BC8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" y="3656076"/>
            <a:ext cx="6327648" cy="932688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E5546D-661A-9369-3E1B-F3CED0985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54352"/>
            <a:ext cx="6327648" cy="7925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90BDBC-CCC8-123B-8D37-5AC0E4FDA361}"/>
              </a:ext>
            </a:extLst>
          </p:cNvPr>
          <p:cNvSpPr txBox="1"/>
          <p:nvPr/>
        </p:nvSpPr>
        <p:spPr>
          <a:xfrm>
            <a:off x="920496" y="1569720"/>
            <a:ext cx="3718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​ -  </a:t>
            </a:r>
            <a:r>
              <a:rPr lang="en-US" dirty="0" err="1"/>
              <a:t>clientul</a:t>
            </a:r>
            <a:r>
              <a:rPr lang="en-US" dirty="0"/>
              <a:t> NU are token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B5BCC-0910-F4CA-3484-31CCE7DFB7D2}"/>
              </a:ext>
            </a:extLst>
          </p:cNvPr>
          <p:cNvSpPr txBox="1"/>
          <p:nvPr/>
        </p:nvSpPr>
        <p:spPr>
          <a:xfrm>
            <a:off x="920496" y="317906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​ - </a:t>
            </a:r>
            <a:r>
              <a:rPr lang="en-US" dirty="0" err="1"/>
              <a:t>clientul</a:t>
            </a:r>
            <a:r>
              <a:rPr lang="en-US" dirty="0"/>
              <a:t> are token ​valid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10EBE-513F-6A90-F739-6DA1933550DD}"/>
              </a:ext>
            </a:extLst>
          </p:cNvPr>
          <p:cNvSpPr txBox="1"/>
          <p:nvPr/>
        </p:nvSpPr>
        <p:spPr>
          <a:xfrm>
            <a:off x="1054608" y="4812792"/>
            <a:ext cx="5742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​ - </a:t>
            </a:r>
            <a:r>
              <a:rPr lang="en-US" dirty="0" err="1"/>
              <a:t>clientul</a:t>
            </a:r>
            <a:r>
              <a:rPr lang="en-US" dirty="0"/>
              <a:t> are token ​invalid​ </a:t>
            </a:r>
            <a:r>
              <a:rPr lang="en-US" dirty="0">
                <a:ea typeface="+mn-lt"/>
                <a:cs typeface="+mn-lt"/>
              </a:rPr>
              <a:t>care duce la </a:t>
            </a:r>
            <a:r>
              <a:rPr lang="en-US" dirty="0" err="1">
                <a:ea typeface="+mn-lt"/>
                <a:cs typeface="+mn-lt"/>
              </a:rPr>
              <a:t>deconectare</a:t>
            </a:r>
            <a:endParaRPr lang="en-US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CB0B3-E506-06BD-A513-B6B552AF8600}"/>
              </a:ext>
            </a:extLst>
          </p:cNvPr>
          <p:cNvSpPr txBox="1"/>
          <p:nvPr/>
        </p:nvSpPr>
        <p:spPr>
          <a:xfrm>
            <a:off x="676656" y="484632"/>
            <a:ext cx="8887968" cy="7771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50" b="1" err="1">
                <a:solidFill>
                  <a:srgbClr val="030303"/>
                </a:solidFill>
                <a:latin typeface="DM Sans Semi Bold"/>
              </a:rPr>
              <a:t>Realizare</a:t>
            </a:r>
            <a:r>
              <a:rPr lang="en-US" sz="4450" b="1" dirty="0">
                <a:solidFill>
                  <a:srgbClr val="030303"/>
                </a:solidFill>
                <a:latin typeface="DM Sans Semi Bold"/>
              </a:rPr>
              <a:t> </a:t>
            </a:r>
            <a:r>
              <a:rPr lang="en-US" sz="4450" b="1" err="1">
                <a:solidFill>
                  <a:srgbClr val="030303"/>
                </a:solidFill>
                <a:latin typeface="DM Sans Semi Bold"/>
              </a:rPr>
              <a:t>conexiune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19" name="Picture 1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31AAE19-1E7D-9D26-316E-711A24575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534" y="863727"/>
            <a:ext cx="701992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40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03DEB61-26EE-32CA-9CE4-C9AAB7F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3024E5D-30BF-12A8-5167-26F09ABE2CD8}"/>
              </a:ext>
            </a:extLst>
          </p:cNvPr>
          <p:cNvSpPr/>
          <p:nvPr/>
        </p:nvSpPr>
        <p:spPr>
          <a:xfrm>
            <a:off x="793790" y="858679"/>
            <a:ext cx="59651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Gestionarea Clienților</a:t>
            </a:r>
            <a:endParaRPr lang="en-US" sz="445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F2E5250-1E7B-7FEB-4A59-E20FC06C02C0}"/>
              </a:ext>
            </a:extLst>
          </p:cNvPr>
          <p:cNvSpPr/>
          <p:nvPr/>
        </p:nvSpPr>
        <p:spPr>
          <a:xfrm>
            <a:off x="1074658" y="2247781"/>
            <a:ext cx="11846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408F02F-47DA-52D2-542A-A57912C5AF76}"/>
              </a:ext>
            </a:extLst>
          </p:cNvPr>
          <p:cNvSpPr/>
          <p:nvPr/>
        </p:nvSpPr>
        <p:spPr>
          <a:xfrm>
            <a:off x="238148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Conexiuni Multiple</a:t>
            </a:r>
            <a:endParaRPr lang="en-US" sz="22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17C1E68-7CFA-92A7-3CF7-77743D6CC7FA}"/>
              </a:ext>
            </a:extLst>
          </p:cNvPr>
          <p:cNvSpPr/>
          <p:nvPr/>
        </p:nvSpPr>
        <p:spPr>
          <a:xfrm>
            <a:off x="2381488" y="26248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Management de clienti multipli in acelasi timp - prin trimiterea unei liste de clienti.</a:t>
            </a:r>
            <a:endParaRPr lang="en-US" sz="175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9459E602-7D41-743C-1640-A935D6491E4F}"/>
              </a:ext>
            </a:extLst>
          </p:cNvPr>
          <p:cNvSpPr/>
          <p:nvPr/>
        </p:nvSpPr>
        <p:spPr>
          <a:xfrm>
            <a:off x="1035725" y="4144447"/>
            <a:ext cx="19633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3A401971-5BA6-5CD6-6118-7C9B832ECDB8}"/>
              </a:ext>
            </a:extLst>
          </p:cNvPr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Execuție Comenzi</a:t>
            </a:r>
            <a:endParaRPr lang="en-US" sz="22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9B34CD38-56E3-D918-6C57-1E6F4E6498E6}"/>
              </a:ext>
            </a:extLst>
          </p:cNvPr>
          <p:cNvSpPr/>
          <p:nvPr/>
        </p:nvSpPr>
        <p:spPr>
          <a:xfrm>
            <a:off x="2381488" y="4521517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Execuție de comenzi la distanta - dupa trimiterea comenzii serverul primeste rezultatul comenzii sau un mesaj de eroare.</a:t>
            </a:r>
            <a:endParaRPr lang="en-US" sz="175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7089806D-560B-FB3F-C681-9E1C993D40EE}"/>
              </a:ext>
            </a:extLst>
          </p:cNvPr>
          <p:cNvSpPr/>
          <p:nvPr/>
        </p:nvSpPr>
        <p:spPr>
          <a:xfrm>
            <a:off x="1032034" y="6404015"/>
            <a:ext cx="20383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65CDC150-3CA9-5194-A599-45F83197B38C}"/>
              </a:ext>
            </a:extLst>
          </p:cNvPr>
          <p:cNvSpPr/>
          <p:nvPr/>
        </p:nvSpPr>
        <p:spPr>
          <a:xfrm>
            <a:off x="2381488" y="6290667"/>
            <a:ext cx="32398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Actualizare în Timp Real</a:t>
            </a:r>
            <a:endParaRPr lang="en-US" sz="220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127A3BF5-100B-E52B-2EBC-89B0C42DD8D7}"/>
              </a:ext>
            </a:extLst>
          </p:cNvPr>
          <p:cNvSpPr/>
          <p:nvPr/>
        </p:nvSpPr>
        <p:spPr>
          <a:xfrm>
            <a:off x="2381488" y="6781086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Actualizare in timp real a listei de clienti conectati.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3301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890BDBC-CCC8-123B-8D37-5AC0E4FDA361}"/>
              </a:ext>
            </a:extLst>
          </p:cNvPr>
          <p:cNvSpPr txBox="1"/>
          <p:nvPr/>
        </p:nvSpPr>
        <p:spPr>
          <a:xfrm>
            <a:off x="920496" y="1301496"/>
            <a:ext cx="50474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 dirty="0" err="1">
                <a:ea typeface="Calibri"/>
                <a:cs typeface="Calibri"/>
              </a:rPr>
              <a:t>Comanda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este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trimisa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unui</a:t>
            </a:r>
            <a:r>
              <a:rPr lang="en-US" b="1" dirty="0">
                <a:ea typeface="Calibri"/>
                <a:cs typeface="Calibri"/>
              </a:rPr>
              <a:t> client </a:t>
            </a:r>
            <a:r>
              <a:rPr lang="en-US" b="1" dirty="0" err="1">
                <a:ea typeface="Calibri"/>
                <a:cs typeface="Calibri"/>
              </a:rPr>
              <a:t>si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este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recunoscuta</a:t>
            </a:r>
            <a:r>
              <a:rPr lang="en-US" b="1" dirty="0">
                <a:ea typeface="Calibri"/>
                <a:cs typeface="Calibri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B5BCC-0910-F4CA-3484-31CCE7DFB7D2}"/>
              </a:ext>
            </a:extLst>
          </p:cNvPr>
          <p:cNvSpPr txBox="1"/>
          <p:nvPr/>
        </p:nvSpPr>
        <p:spPr>
          <a:xfrm>
            <a:off x="8698992" y="1252728"/>
            <a:ext cx="46207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 dirty="0" err="1">
                <a:ea typeface="Calibri"/>
                <a:cs typeface="Calibri"/>
              </a:rPr>
              <a:t>Comanda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este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trimisa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unui</a:t>
            </a:r>
            <a:r>
              <a:rPr lang="en-US" b="1" dirty="0">
                <a:ea typeface="Calibri"/>
                <a:cs typeface="Calibri"/>
              </a:rPr>
              <a:t> range de </a:t>
            </a:r>
            <a:r>
              <a:rPr lang="en-US" b="1" dirty="0" err="1">
                <a:ea typeface="Calibri"/>
                <a:cs typeface="Calibri"/>
              </a:rPr>
              <a:t>clienti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CB0B3-E506-06BD-A513-B6B552AF8600}"/>
              </a:ext>
            </a:extLst>
          </p:cNvPr>
          <p:cNvSpPr txBox="1"/>
          <p:nvPr/>
        </p:nvSpPr>
        <p:spPr>
          <a:xfrm>
            <a:off x="725424" y="374904"/>
            <a:ext cx="8887968" cy="7771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50" b="1" dirty="0" err="1">
                <a:solidFill>
                  <a:srgbClr val="030303"/>
                </a:solidFill>
                <a:latin typeface="DM Sans Semi Bold"/>
              </a:rPr>
              <a:t>Executie</a:t>
            </a:r>
            <a:r>
              <a:rPr lang="en-US" sz="4450" b="1" dirty="0">
                <a:solidFill>
                  <a:srgbClr val="030303"/>
                </a:solidFill>
                <a:latin typeface="DM Sans Semi Bold"/>
              </a:rPr>
              <a:t> </a:t>
            </a:r>
            <a:r>
              <a:rPr lang="en-US" sz="4450" b="1" dirty="0" err="1">
                <a:solidFill>
                  <a:srgbClr val="030303"/>
                </a:solidFill>
                <a:latin typeface="DM Sans Semi Bold"/>
              </a:rPr>
              <a:t>comenzi</a:t>
            </a:r>
            <a:endParaRPr lang="en-US" dirty="0" err="1"/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F0477DDA-543F-412C-8273-9ABE67773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48" y="5612239"/>
            <a:ext cx="5042916" cy="2040255"/>
          </a:xfrm>
          <a:prstGeom prst="rect">
            <a:avLst/>
          </a:prstGeom>
        </p:spPr>
      </p:pic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2D4D507C-CD82-2E65-A041-D4CDA8A6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68" y="2132947"/>
            <a:ext cx="5047488" cy="23851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396E51-8DA0-4446-9F0E-64EAB1CFFA1E}"/>
              </a:ext>
            </a:extLst>
          </p:cNvPr>
          <p:cNvSpPr txBox="1"/>
          <p:nvPr/>
        </p:nvSpPr>
        <p:spPr>
          <a:xfrm>
            <a:off x="920495" y="4837175"/>
            <a:ext cx="50474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 err="1">
                <a:ea typeface="Calibri"/>
                <a:cs typeface="Calibri"/>
              </a:rPr>
              <a:t>Comanda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este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trimisa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unui</a:t>
            </a:r>
            <a:r>
              <a:rPr lang="en-US" b="1" dirty="0">
                <a:ea typeface="Calibri"/>
                <a:cs typeface="Calibri"/>
              </a:rPr>
              <a:t> client </a:t>
            </a:r>
            <a:r>
              <a:rPr lang="en-US" b="1" err="1">
                <a:ea typeface="Calibri"/>
                <a:cs typeface="Calibri"/>
              </a:rPr>
              <a:t>si</a:t>
            </a:r>
            <a:r>
              <a:rPr lang="en-US" b="1">
                <a:ea typeface="Calibri"/>
                <a:cs typeface="Calibri"/>
              </a:rPr>
              <a:t> nu </a:t>
            </a:r>
            <a:r>
              <a:rPr lang="en-US" b="1" dirty="0">
                <a:ea typeface="Calibri"/>
                <a:cs typeface="Calibri"/>
              </a:rPr>
              <a:t>este </a:t>
            </a:r>
            <a:r>
              <a:rPr lang="en-US" b="1" err="1">
                <a:ea typeface="Calibri"/>
                <a:cs typeface="Calibri"/>
              </a:rPr>
              <a:t>recunoscuta</a:t>
            </a:r>
            <a:r>
              <a:rPr lang="en-US" b="1" dirty="0">
                <a:ea typeface="Calibri"/>
                <a:cs typeface="Calibri"/>
              </a:rPr>
              <a:t> </a:t>
            </a:r>
          </a:p>
        </p:txBody>
      </p:sp>
      <p:pic>
        <p:nvPicPr>
          <p:cNvPr id="16" name="Picture 15" descr="A screen shot of a computer&#10;&#10;Description automatically generated">
            <a:extLst>
              <a:ext uri="{FF2B5EF4-FFF2-40B4-BE49-F238E27FC236}">
                <a16:creationId xmlns:a16="http://schemas.microsoft.com/office/drawing/2014/main" id="{97C1230C-F13E-EF59-2CDE-F8F5479DE7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8" r="-242" b="12321"/>
          <a:stretch/>
        </p:blipFill>
        <p:spPr>
          <a:xfrm>
            <a:off x="8476869" y="1618488"/>
            <a:ext cx="5052838" cy="2899873"/>
          </a:xfrm>
          <a:prstGeom prst="rect">
            <a:avLst/>
          </a:prstGeom>
        </p:spPr>
      </p:pic>
      <p:pic>
        <p:nvPicPr>
          <p:cNvPr id="17" name="Picture 16" descr="A screen shot of a computer&#10;&#10;Description automatically generated">
            <a:extLst>
              <a:ext uri="{FF2B5EF4-FFF2-40B4-BE49-F238E27FC236}">
                <a16:creationId xmlns:a16="http://schemas.microsoft.com/office/drawing/2014/main" id="{7F6C67A4-F502-0552-50D6-D190576ADD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17" t="4435" r="117" b="5974"/>
          <a:stretch/>
        </p:blipFill>
        <p:spPr>
          <a:xfrm>
            <a:off x="8476869" y="4973683"/>
            <a:ext cx="5053208" cy="29983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70BBF7-BA0D-5E92-F5CA-092549AD1DE8}"/>
              </a:ext>
            </a:extLst>
          </p:cNvPr>
          <p:cNvSpPr txBox="1"/>
          <p:nvPr/>
        </p:nvSpPr>
        <p:spPr>
          <a:xfrm>
            <a:off x="8479536" y="4654296"/>
            <a:ext cx="50474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 b="1" dirty="0" err="1">
                <a:cs typeface="Arial"/>
              </a:rPr>
              <a:t>Comanda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este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trimisa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unei</a:t>
            </a:r>
            <a:r>
              <a:rPr lang="en-US" b="1" dirty="0">
                <a:cs typeface="Arial"/>
              </a:rPr>
              <a:t> </a:t>
            </a:r>
            <a:r>
              <a:rPr lang="en-US" b="1" dirty="0" err="1">
                <a:cs typeface="Arial"/>
              </a:rPr>
              <a:t>liste</a:t>
            </a:r>
            <a:r>
              <a:rPr lang="en-US" b="1" dirty="0">
                <a:cs typeface="Arial"/>
              </a:rPr>
              <a:t> de </a:t>
            </a:r>
            <a:r>
              <a:rPr lang="en-US" b="1" dirty="0" err="1">
                <a:cs typeface="Arial"/>
              </a:rPr>
              <a:t>clienti</a:t>
            </a:r>
            <a:r>
              <a:rPr lang="en-US" dirty="0"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87212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4630400" cy="82295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CB0B3-E506-06BD-A513-B6B552AF8600}"/>
              </a:ext>
            </a:extLst>
          </p:cNvPr>
          <p:cNvSpPr txBox="1"/>
          <p:nvPr/>
        </p:nvSpPr>
        <p:spPr>
          <a:xfrm>
            <a:off x="10371831" y="587408"/>
            <a:ext cx="3709929" cy="19865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Informatii de Sistem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34AAFF15-8543-DC76-EE01-82A0633D1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06" b="1"/>
          <a:stretch/>
        </p:blipFill>
        <p:spPr>
          <a:xfrm>
            <a:off x="20" y="517"/>
            <a:ext cx="9738340" cy="76899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90BDBC-CCC8-123B-8D37-5AC0E4FDA361}"/>
              </a:ext>
            </a:extLst>
          </p:cNvPr>
          <p:cNvSpPr txBox="1"/>
          <p:nvPr/>
        </p:nvSpPr>
        <p:spPr>
          <a:xfrm>
            <a:off x="10371831" y="2902089"/>
            <a:ext cx="3531376" cy="42483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​</a:t>
            </a:r>
            <a:r>
              <a:rPr lang="en-US" sz="2400" b="1"/>
              <a:t>Informatiile</a:t>
            </a:r>
            <a:r>
              <a:rPr lang="en-US" sz="2400" b="1" dirty="0"/>
              <a:t> de </a:t>
            </a:r>
            <a:r>
              <a:rPr lang="en-US" sz="2400" b="1"/>
              <a:t>sistem</a:t>
            </a:r>
            <a:r>
              <a:rPr lang="en-US" sz="2400" b="1" dirty="0"/>
              <a:t> sunt </a:t>
            </a:r>
            <a:r>
              <a:rPr lang="en-US" sz="2400" b="1"/>
              <a:t>furnizate</a:t>
            </a:r>
            <a:r>
              <a:rPr lang="en-US" sz="2400" b="1" dirty="0"/>
              <a:t> de </a:t>
            </a:r>
            <a:r>
              <a:rPr lang="en-US" sz="2400" b="1"/>
              <a:t>catre</a:t>
            </a:r>
            <a:r>
              <a:rPr lang="en-US" sz="2400" b="1" dirty="0"/>
              <a:t> client </a:t>
            </a:r>
            <a:r>
              <a:rPr lang="en-US" sz="2400" b="1"/>
              <a:t>prin</a:t>
            </a:r>
            <a:r>
              <a:rPr lang="en-US" sz="2400" b="1" dirty="0"/>
              <a:t> </a:t>
            </a:r>
            <a:r>
              <a:rPr lang="en-US" sz="2400" b="1"/>
              <a:t>intermediul</a:t>
            </a:r>
            <a:r>
              <a:rPr lang="en-US" sz="2400" b="1" dirty="0"/>
              <a:t> </a:t>
            </a:r>
            <a:r>
              <a:rPr lang="en-US" sz="2400" b="1"/>
              <a:t>unui</a:t>
            </a:r>
            <a:r>
              <a:rPr lang="en-US" sz="2400" b="1" dirty="0"/>
              <a:t> server web </a:t>
            </a:r>
            <a:r>
              <a:rPr lang="en-US" sz="2400" b="1"/>
              <a:t>ce</a:t>
            </a:r>
            <a:r>
              <a:rPr lang="en-US" sz="2400" b="1" dirty="0"/>
              <a:t> </a:t>
            </a:r>
            <a:r>
              <a:rPr lang="en-US" sz="2400" b="1"/>
              <a:t>foloseste</a:t>
            </a:r>
            <a:r>
              <a:rPr lang="en-US" sz="2400" b="1" dirty="0"/>
              <a:t> </a:t>
            </a:r>
            <a:r>
              <a:rPr lang="en-US" sz="2400" b="1"/>
              <a:t>biblioteca</a:t>
            </a:r>
            <a:r>
              <a:rPr lang="en-US" sz="2400" b="1" dirty="0"/>
              <a:t> mongoose, </a:t>
            </a:r>
            <a:r>
              <a:rPr lang="en-US" sz="2400" b="1"/>
              <a:t>realizand</a:t>
            </a:r>
            <a:r>
              <a:rPr lang="en-US" sz="2400" b="1" dirty="0"/>
              <a:t> </a:t>
            </a:r>
            <a:r>
              <a:rPr lang="en-US" sz="2400" b="1"/>
              <a:t>pentru</a:t>
            </a:r>
            <a:r>
              <a:rPr lang="en-US" sz="2400" b="1" dirty="0"/>
              <a:t> </a:t>
            </a:r>
            <a:r>
              <a:rPr lang="en-US" sz="2400" b="1"/>
              <a:t>parsarea</a:t>
            </a:r>
            <a:r>
              <a:rPr lang="en-US" sz="2400" b="1" dirty="0"/>
              <a:t> in </a:t>
            </a:r>
            <a:r>
              <a:rPr lang="en-US" sz="2400" b="1"/>
              <a:t>timp</a:t>
            </a:r>
            <a:r>
              <a:rPr lang="en-US" sz="2400" b="1" dirty="0"/>
              <a:t> real a </a:t>
            </a:r>
            <a:r>
              <a:rPr lang="en-US" sz="2400" b="1"/>
              <a:t>datelor</a:t>
            </a:r>
            <a:r>
              <a:rPr lang="en-US" sz="2400" b="1" dirty="0"/>
              <a:t> o </a:t>
            </a:r>
            <a:r>
              <a:rPr lang="en-US" sz="2400" b="1"/>
              <a:t>structura</a:t>
            </a:r>
            <a:r>
              <a:rPr lang="en-US" sz="2400" b="1" dirty="0"/>
              <a:t> </a:t>
            </a:r>
            <a:r>
              <a:rPr lang="en-US" sz="2400" b="1"/>
              <a:t>json</a:t>
            </a:r>
            <a:r>
              <a:rPr lang="en-US" sz="2400" b="1" dirty="0"/>
              <a:t> care </a:t>
            </a:r>
            <a:r>
              <a:rPr lang="en-US" sz="2400" b="1"/>
              <a:t>preia</a:t>
            </a:r>
            <a:r>
              <a:rPr lang="en-US" sz="2400" b="1" dirty="0"/>
              <a:t> din /proc </a:t>
            </a:r>
            <a:r>
              <a:rPr lang="en-US" sz="2400" b="1"/>
              <a:t>informatii</a:t>
            </a:r>
            <a:r>
              <a:rPr lang="en-US" sz="2400" b="1" dirty="0"/>
              <a:t> </a:t>
            </a:r>
            <a:r>
              <a:rPr lang="en-US" sz="2400" b="1"/>
              <a:t>despre</a:t>
            </a:r>
            <a:r>
              <a:rPr lang="en-US" sz="2400" b="1" dirty="0"/>
              <a:t> </a:t>
            </a:r>
            <a:r>
              <a:rPr lang="en-US" sz="2400" b="1"/>
              <a:t>utlilizarea</a:t>
            </a:r>
            <a:r>
              <a:rPr lang="en-US" sz="2400" b="1" dirty="0"/>
              <a:t> </a:t>
            </a:r>
            <a:r>
              <a:rPr lang="en-US" sz="2400" b="1"/>
              <a:t>statiei</a:t>
            </a:r>
            <a:r>
              <a:rPr lang="en-US" sz="2400" b="1" dirty="0"/>
              <a:t>.</a:t>
            </a:r>
            <a:endParaRPr lang="en-US" sz="24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690489"/>
            <a:ext cx="14630397" cy="5486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7690490"/>
            <a:ext cx="9738359" cy="539110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1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7450369" cy="8229599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43990" cy="82296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CB0B3-E506-06BD-A513-B6B552AF8600}"/>
              </a:ext>
            </a:extLst>
          </p:cNvPr>
          <p:cNvSpPr txBox="1"/>
          <p:nvPr/>
        </p:nvSpPr>
        <p:spPr>
          <a:xfrm>
            <a:off x="586917" y="1327240"/>
            <a:ext cx="6022889" cy="384496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err="1">
                <a:latin typeface="+mj-lt"/>
                <a:ea typeface="+mj-ea"/>
                <a:cs typeface="+mj-cs"/>
              </a:rPr>
              <a:t>Informatii</a:t>
            </a:r>
            <a:r>
              <a:rPr lang="en-US" sz="6200" b="1" dirty="0">
                <a:latin typeface="+mj-lt"/>
                <a:ea typeface="+mj-ea"/>
                <a:cs typeface="+mj-cs"/>
              </a:rPr>
              <a:t> </a:t>
            </a:r>
            <a:r>
              <a:rPr lang="en-US" sz="6200" b="1" err="1">
                <a:latin typeface="+mj-lt"/>
                <a:ea typeface="+mj-ea"/>
                <a:cs typeface="+mj-cs"/>
              </a:rPr>
              <a:t>despre</a:t>
            </a:r>
            <a:r>
              <a:rPr lang="en-US" sz="6200" b="1" dirty="0">
                <a:latin typeface="+mj-lt"/>
                <a:ea typeface="+mj-ea"/>
                <a:cs typeface="+mj-cs"/>
              </a:rPr>
              <a:t> </a:t>
            </a:r>
            <a:r>
              <a:rPr lang="en-US" sz="6200" b="1" err="1">
                <a:latin typeface="+mj-lt"/>
                <a:ea typeface="+mj-ea"/>
                <a:cs typeface="+mj-cs"/>
              </a:rPr>
              <a:t>statiile</a:t>
            </a:r>
            <a:r>
              <a:rPr lang="en-US" sz="6200" b="1" dirty="0">
                <a:latin typeface="+mj-lt"/>
                <a:ea typeface="+mj-ea"/>
                <a:cs typeface="+mj-cs"/>
              </a:rPr>
              <a:t> </a:t>
            </a:r>
            <a:r>
              <a:rPr lang="en-US" sz="6200" b="1" err="1">
                <a:latin typeface="+mj-lt"/>
                <a:ea typeface="+mj-ea"/>
                <a:cs typeface="+mj-cs"/>
              </a:rPr>
              <a:t>conectate</a:t>
            </a:r>
            <a:endParaRPr lang="en-US" sz="6200" b="1" err="1">
              <a:latin typeface="+mj-lt"/>
              <a:ea typeface="Calibri Light"/>
              <a:cs typeface="Calibri Ligh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917" y="5456304"/>
            <a:ext cx="6022889" cy="21945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E5328AB-2BAF-D2D0-111C-558EF267D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741" y="6505859"/>
            <a:ext cx="5650599" cy="12148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1D0CB7-D81E-0A95-B612-F4E77C73B6F3}"/>
              </a:ext>
            </a:extLst>
          </p:cNvPr>
          <p:cNvSpPr txBox="1"/>
          <p:nvPr/>
        </p:nvSpPr>
        <p:spPr>
          <a:xfrm>
            <a:off x="8119872" y="195072"/>
            <a:ext cx="52669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Calibri"/>
                <a:cs typeface="Calibri"/>
              </a:rPr>
              <a:t>Structurarea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informatiilor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despre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utilizarea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tuturor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statiilor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conectate</a:t>
            </a:r>
            <a:r>
              <a:rPr lang="en-US" b="1" dirty="0">
                <a:ea typeface="Calibri"/>
                <a:cs typeface="Calibri"/>
              </a:rPr>
              <a:t> in </a:t>
            </a:r>
            <a:r>
              <a:rPr lang="en-US" b="1" dirty="0" err="1">
                <a:ea typeface="Calibri"/>
                <a:cs typeface="Calibri"/>
              </a:rPr>
              <a:t>timp</a:t>
            </a:r>
            <a:r>
              <a:rPr lang="en-US" b="1" dirty="0">
                <a:ea typeface="Calibri"/>
                <a:cs typeface="Calibri"/>
              </a:rPr>
              <a:t> real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7EFF8-566E-8CCF-E8CB-12B25C487083}"/>
              </a:ext>
            </a:extLst>
          </p:cNvPr>
          <p:cNvSpPr txBox="1"/>
          <p:nvPr/>
        </p:nvSpPr>
        <p:spPr>
          <a:xfrm>
            <a:off x="7997952" y="6144768"/>
            <a:ext cx="4876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Lista de </a:t>
            </a:r>
            <a:r>
              <a:rPr lang="en-US" b="1" dirty="0" err="1">
                <a:ea typeface="Calibri"/>
                <a:cs typeface="Calibri"/>
              </a:rPr>
              <a:t>statii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conectate</a:t>
            </a:r>
            <a:r>
              <a:rPr lang="en-US" b="1" dirty="0">
                <a:ea typeface="Calibri"/>
                <a:cs typeface="Calibri"/>
              </a:rPr>
              <a:t> la server In </a:t>
            </a:r>
            <a:r>
              <a:rPr lang="en-US" b="1" dirty="0" err="1">
                <a:ea typeface="Calibri"/>
                <a:cs typeface="Calibri"/>
              </a:rPr>
              <a:t>timp</a:t>
            </a:r>
            <a:r>
              <a:rPr lang="en-US" b="1" dirty="0">
                <a:ea typeface="Calibri"/>
                <a:cs typeface="Calibri"/>
              </a:rPr>
              <a:t> real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96963BDC-C965-8C24-894C-63EBDB1E6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277" y="926592"/>
            <a:ext cx="5414438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81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8659018-1DBE-8E5C-DED8-41B8C2D6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88321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BFEF1C0-B024-02BB-A05D-A713E998E717}"/>
              </a:ext>
            </a:extLst>
          </p:cNvPr>
          <p:cNvSpPr/>
          <p:nvPr/>
        </p:nvSpPr>
        <p:spPr>
          <a:xfrm>
            <a:off x="527209" y="2297549"/>
            <a:ext cx="4397693" cy="470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Funcționalități Avansate</a:t>
            </a:r>
            <a:endParaRPr lang="en-US" sz="29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AD5AF6DE-1E36-B6E3-77B7-E0D6F7E4B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9" y="2994184"/>
            <a:ext cx="753189" cy="120527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EC65FDC-8A38-D970-C09B-308B19E6C5EA}"/>
              </a:ext>
            </a:extLst>
          </p:cNvPr>
          <p:cNvSpPr/>
          <p:nvPr/>
        </p:nvSpPr>
        <p:spPr>
          <a:xfrm>
            <a:off x="1506379" y="3144798"/>
            <a:ext cx="532135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50" dirty="0" err="1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Capturi</a:t>
            </a:r>
            <a:r>
              <a:rPr lang="en-US" sz="1450" dirty="0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 de </a:t>
            </a:r>
            <a:r>
              <a:rPr lang="en-US" sz="1450" dirty="0" err="1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Ecran</a:t>
            </a:r>
            <a:r>
              <a:rPr lang="en-US" sz="1450" dirty="0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 </a:t>
            </a:r>
            <a:r>
              <a:rPr lang="en-US" sz="1450" dirty="0" err="1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si</a:t>
            </a:r>
            <a:r>
              <a:rPr lang="en-US" sz="1450" dirty="0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 </a:t>
            </a:r>
            <a:r>
              <a:rPr lang="en-US" sz="1500" dirty="0" err="1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Inregistrare</a:t>
            </a:r>
            <a:r>
              <a:rPr lang="en-US" sz="1500" dirty="0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 de </a:t>
            </a:r>
            <a:r>
              <a:rPr lang="en-US" sz="1500" dirty="0" err="1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Ecran</a:t>
            </a:r>
            <a:r>
              <a:rPr lang="en-US" sz="1500" dirty="0">
                <a:solidFill>
                  <a:srgbClr val="464646"/>
                </a:solidFill>
                <a:latin typeface="DM Sans Semi Bold"/>
                <a:ea typeface="DM Sans Semi Bold" pitchFamily="34" charset="-122"/>
                <a:cs typeface="DM Sans Semi Bold" pitchFamily="34" charset="-120"/>
              </a:rPr>
              <a:t> </a:t>
            </a:r>
          </a:p>
          <a:p>
            <a:pPr>
              <a:lnSpc>
                <a:spcPts val="1850"/>
              </a:lnSpc>
            </a:pPr>
            <a:endParaRPr lang="en-US" sz="1450" dirty="0">
              <a:solidFill>
                <a:srgbClr val="464646"/>
              </a:solidFill>
              <a:latin typeface="DM Sans Semi Bold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F9BA367-4C2E-8CDB-E1B2-60FB11DADE29}"/>
              </a:ext>
            </a:extLst>
          </p:cNvPr>
          <p:cNvSpPr/>
          <p:nvPr/>
        </p:nvSpPr>
        <p:spPr>
          <a:xfrm>
            <a:off x="1506379" y="3470553"/>
            <a:ext cx="12596813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Realizare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de screenshot-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uri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- cu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ajutorul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comenzii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scrot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  <a:cs typeface="Inter Medium" pitchFamily="34" charset="-120"/>
              </a:rPr>
              <a:t> -</a:t>
            </a:r>
          </a:p>
          <a:p>
            <a:pPr>
              <a:lnSpc>
                <a:spcPts val="1850"/>
              </a:lnSpc>
            </a:pPr>
            <a:r>
              <a:rPr lang="en-US" sz="1200" dirty="0" err="1">
                <a:solidFill>
                  <a:srgbClr val="464646"/>
                </a:solidFill>
                <a:latin typeface="Inter Medium"/>
                <a:ea typeface="Inter Medium"/>
              </a:rPr>
              <a:t>Realizare</a:t>
            </a:r>
            <a:r>
              <a:rPr lang="en-US" sz="1200" dirty="0">
                <a:solidFill>
                  <a:srgbClr val="464646"/>
                </a:solidFill>
                <a:latin typeface="Inter Medium"/>
                <a:ea typeface="Inter Medium"/>
              </a:rPr>
              <a:t> de livestream-</a:t>
            </a:r>
            <a:r>
              <a:rPr lang="en-US" sz="1200" dirty="0" err="1">
                <a:solidFill>
                  <a:srgbClr val="464646"/>
                </a:solidFill>
                <a:latin typeface="Inter Medium"/>
                <a:ea typeface="Inter Medium"/>
              </a:rPr>
              <a:t>uri</a:t>
            </a:r>
            <a:r>
              <a:rPr lang="en-US" sz="1200" dirty="0">
                <a:solidFill>
                  <a:srgbClr val="464646"/>
                </a:solidFill>
                <a:latin typeface="Inter Medium"/>
                <a:ea typeface="Inter Medium"/>
              </a:rPr>
              <a:t> – cu </a:t>
            </a:r>
            <a:r>
              <a:rPr lang="en-US" sz="1200" dirty="0" err="1">
                <a:solidFill>
                  <a:srgbClr val="464646"/>
                </a:solidFill>
                <a:latin typeface="Inter Medium"/>
                <a:ea typeface="Inter Medium"/>
              </a:rPr>
              <a:t>ajutorul</a:t>
            </a:r>
            <a:r>
              <a:rPr lang="en-US" sz="120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200" dirty="0" err="1">
                <a:solidFill>
                  <a:srgbClr val="464646"/>
                </a:solidFill>
                <a:latin typeface="Inter Medium"/>
                <a:ea typeface="Inter Medium"/>
              </a:rPr>
              <a:t>comenzii</a:t>
            </a:r>
            <a:r>
              <a:rPr lang="en-US" sz="120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200" dirty="0" err="1">
                <a:solidFill>
                  <a:srgbClr val="464646"/>
                </a:solidFill>
                <a:latin typeface="Inter Medium"/>
                <a:ea typeface="Inter Medium"/>
              </a:rPr>
              <a:t>ffmpeg</a:t>
            </a:r>
            <a:r>
              <a:rPr lang="en-US" sz="1200" dirty="0">
                <a:solidFill>
                  <a:srgbClr val="464646"/>
                </a:solidFill>
                <a:latin typeface="Inter Medium"/>
                <a:ea typeface="Inter Medium"/>
              </a:rPr>
              <a:t> -</a:t>
            </a:r>
          </a:p>
          <a:p>
            <a:pPr>
              <a:lnSpc>
                <a:spcPts val="1850"/>
              </a:lnSpc>
            </a:pPr>
            <a:endParaRPr lang="en-US" sz="1150" dirty="0">
              <a:solidFill>
                <a:srgbClr val="464646"/>
              </a:solidFill>
              <a:latin typeface="Inter Medium"/>
              <a:ea typeface="Inter Medium"/>
            </a:endParaRP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ACE9B8A8-A854-FA21-5454-426E4DAEC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9" y="4199453"/>
            <a:ext cx="753189" cy="120527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9030A562-CAC0-AACD-A4D9-E4549863E4BD}"/>
              </a:ext>
            </a:extLst>
          </p:cNvPr>
          <p:cNvSpPr/>
          <p:nvPr/>
        </p:nvSpPr>
        <p:spPr>
          <a:xfrm>
            <a:off x="1506379" y="4350068"/>
            <a:ext cx="223616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50" dirty="0" err="1">
                <a:solidFill>
                  <a:srgbClr val="464646"/>
                </a:solidFill>
                <a:latin typeface="DM Sans Semi Bold"/>
              </a:rPr>
              <a:t>Mecanism</a:t>
            </a:r>
            <a:r>
              <a:rPr lang="en-US" sz="1450" dirty="0">
                <a:solidFill>
                  <a:srgbClr val="464646"/>
                </a:solidFill>
                <a:latin typeface="DM Sans Semi Bold"/>
              </a:rPr>
              <a:t> de logging</a:t>
            </a:r>
            <a:endParaRPr lang="en-US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F1EA903-F1B6-2FDD-BB7F-A2382219E38C}"/>
              </a:ext>
            </a:extLst>
          </p:cNvPr>
          <p:cNvSpPr/>
          <p:nvPr/>
        </p:nvSpPr>
        <p:spPr>
          <a:xfrm>
            <a:off x="1506379" y="4675823"/>
            <a:ext cx="12596813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Asigurat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prin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existenta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unor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structuri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de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logare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atat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pe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partea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de client, cat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si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pe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partea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de server</a:t>
            </a:r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041A7567-76B4-47D0-A7E2-0C4763CA7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09" y="5404723"/>
            <a:ext cx="753189" cy="120527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0EEA9C94-7FE6-94ED-0389-40C9C846C1FA}"/>
              </a:ext>
            </a:extLst>
          </p:cNvPr>
          <p:cNvSpPr/>
          <p:nvPr/>
        </p:nvSpPr>
        <p:spPr>
          <a:xfrm>
            <a:off x="1506379" y="5555337"/>
            <a:ext cx="188321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50" dirty="0">
                <a:solidFill>
                  <a:srgbClr val="464646"/>
                </a:solidFill>
                <a:latin typeface="DM Sans Semi Bold"/>
              </a:rPr>
              <a:t>Autocomplete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BD4F797E-13AF-BB6C-0F2C-E9E11BFD671B}"/>
              </a:ext>
            </a:extLst>
          </p:cNvPr>
          <p:cNvSpPr/>
          <p:nvPr/>
        </p:nvSpPr>
        <p:spPr>
          <a:xfrm>
            <a:off x="1506379" y="5881092"/>
            <a:ext cx="12596813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Serverul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pune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la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dispozitie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un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mecanism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de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completare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a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comenzilor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posibile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bazate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pe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clientii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conectati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si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comenzile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de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sistem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disponibile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in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interfata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din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linie</a:t>
            </a:r>
            <a:r>
              <a:rPr lang="en-US" sz="1150" dirty="0">
                <a:solidFill>
                  <a:srgbClr val="464646"/>
                </a:solidFill>
                <a:latin typeface="Inter Medium"/>
                <a:ea typeface="Inter Medium"/>
              </a:rPr>
              <a:t> de </a:t>
            </a:r>
            <a:r>
              <a:rPr lang="en-US" sz="1150" dirty="0" err="1">
                <a:solidFill>
                  <a:srgbClr val="464646"/>
                </a:solidFill>
                <a:latin typeface="Inter Medium"/>
                <a:ea typeface="Inter Medium"/>
              </a:rPr>
              <a:t>comanda</a:t>
            </a:r>
            <a:endParaRPr lang="en-US" dirty="0" err="1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0326108E-78FF-3EC0-CD1E-CA9EA379D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9" y="6609993"/>
            <a:ext cx="753189" cy="1205270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16985499-C7CA-2F6C-A1E2-B804EA0BE591}"/>
              </a:ext>
            </a:extLst>
          </p:cNvPr>
          <p:cNvSpPr/>
          <p:nvPr/>
        </p:nvSpPr>
        <p:spPr>
          <a:xfrm>
            <a:off x="1506379" y="6760607"/>
            <a:ext cx="224182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Alerta Accesare Domenii</a:t>
            </a:r>
            <a:endParaRPr lang="en-US" sz="145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BC3FAB-D051-5DCC-831B-FB27455AF98F}"/>
              </a:ext>
            </a:extLst>
          </p:cNvPr>
          <p:cNvSpPr/>
          <p:nvPr/>
        </p:nvSpPr>
        <p:spPr>
          <a:xfrm>
            <a:off x="1506379" y="7086362"/>
            <a:ext cx="12596813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Alerta accesare anumite domenii cu tcpdump + regex in C.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1366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398" cy="82288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256623-E77A-F828-2C9B-DBB3F2CD755E}"/>
              </a:ext>
            </a:extLst>
          </p:cNvPr>
          <p:cNvSpPr txBox="1"/>
          <p:nvPr/>
        </p:nvSpPr>
        <p:spPr>
          <a:xfrm>
            <a:off x="138960" y="1592355"/>
            <a:ext cx="3731193" cy="449901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err="1">
                <a:latin typeface="+mj-lt"/>
                <a:ea typeface="+mj-ea"/>
                <a:cs typeface="+mj-cs"/>
              </a:rPr>
              <a:t>Executia</a:t>
            </a:r>
            <a:r>
              <a:rPr lang="en-US" sz="3700" b="1" dirty="0">
                <a:latin typeface="+mj-lt"/>
                <a:ea typeface="+mj-ea"/>
                <a:cs typeface="+mj-cs"/>
              </a:rPr>
              <a:t> de screenshot-</a:t>
            </a:r>
            <a:r>
              <a:rPr lang="en-US" sz="3700" b="1" err="1">
                <a:latin typeface="+mj-lt"/>
                <a:ea typeface="+mj-ea"/>
                <a:cs typeface="+mj-cs"/>
              </a:rPr>
              <a:t>uri</a:t>
            </a:r>
            <a:r>
              <a:rPr lang="en-US" sz="3700" b="1" dirty="0">
                <a:latin typeface="+mj-lt"/>
                <a:ea typeface="+mj-ea"/>
                <a:cs typeface="+mj-cs"/>
              </a:rPr>
              <a:t>: </a:t>
            </a:r>
            <a:r>
              <a:rPr lang="en-US" sz="3700" b="1" err="1">
                <a:latin typeface="+mj-lt"/>
                <a:ea typeface="+mj-ea"/>
                <a:cs typeface="+mj-cs"/>
              </a:rPr>
              <a:t>utilitarul</a:t>
            </a:r>
            <a:r>
              <a:rPr lang="en-US" sz="3700" b="1" dirty="0">
                <a:latin typeface="+mj-lt"/>
                <a:ea typeface="+mj-ea"/>
                <a:cs typeface="+mj-cs"/>
              </a:rPr>
              <a:t> </a:t>
            </a:r>
            <a:r>
              <a:rPr lang="en-US" sz="3700" b="1" err="1">
                <a:latin typeface="+mj-lt"/>
                <a:ea typeface="+mj-ea"/>
                <a:cs typeface="+mj-cs"/>
              </a:rPr>
              <a:t>scrot</a:t>
            </a:r>
            <a:r>
              <a:rPr lang="en-US" sz="3700" b="1" dirty="0">
                <a:latin typeface="+mj-lt"/>
                <a:ea typeface="+mj-ea"/>
                <a:cs typeface="+mj-cs"/>
              </a:rPr>
              <a:t> </a:t>
            </a:r>
            <a:endParaRPr lang="en-US" sz="3700" b="1">
              <a:latin typeface="+mj-lt"/>
              <a:ea typeface="Calibri Light"/>
              <a:cs typeface="Calibri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err="1">
                <a:latin typeface="+mj-lt"/>
                <a:ea typeface="+mj-ea"/>
                <a:cs typeface="+mj-cs"/>
              </a:rPr>
              <a:t>Executia</a:t>
            </a:r>
            <a:r>
              <a:rPr lang="en-US" sz="3700" b="1" dirty="0">
                <a:latin typeface="+mj-lt"/>
                <a:ea typeface="+mj-ea"/>
                <a:cs typeface="+mj-cs"/>
              </a:rPr>
              <a:t> de  livestream-</a:t>
            </a:r>
            <a:r>
              <a:rPr lang="en-US" sz="3700" b="1" err="1">
                <a:latin typeface="+mj-lt"/>
                <a:ea typeface="+mj-ea"/>
                <a:cs typeface="+mj-cs"/>
              </a:rPr>
              <a:t>uri</a:t>
            </a:r>
            <a:r>
              <a:rPr lang="en-US" sz="3700" b="1" dirty="0">
                <a:latin typeface="+mj-lt"/>
                <a:ea typeface="+mj-ea"/>
                <a:cs typeface="+mj-cs"/>
              </a:rPr>
              <a:t>: </a:t>
            </a:r>
            <a:r>
              <a:rPr lang="en-US" sz="3700" b="1" err="1">
                <a:latin typeface="+mj-lt"/>
                <a:ea typeface="+mj-ea"/>
                <a:cs typeface="+mj-cs"/>
              </a:rPr>
              <a:t>ffmpeg</a:t>
            </a:r>
            <a:endParaRPr lang="en-US" sz="3700" b="1">
              <a:latin typeface="+mj-lt"/>
              <a:ea typeface="Calibri Light"/>
              <a:cs typeface="Calibri Ligh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26976" y="4070516"/>
            <a:ext cx="2062886" cy="182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451059" y="-992680"/>
            <a:ext cx="2058574" cy="103001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8739" y="797169"/>
            <a:ext cx="9699159" cy="67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FBEB1163-D6DC-3BF0-26D9-1527C8EBC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78" y="1652275"/>
            <a:ext cx="4431792" cy="2002749"/>
          </a:xfrm>
          <a:prstGeom prst="rect">
            <a:avLst/>
          </a:prstGeom>
        </p:spPr>
      </p:pic>
      <p:pic>
        <p:nvPicPr>
          <p:cNvPr id="10" name="Picture 9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FFA17979-A6D6-B904-03D0-FCDD89697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101" y="5131172"/>
            <a:ext cx="4443984" cy="1322085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961DE34E-A82E-A329-9947-04B322A5C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9597" y="5131171"/>
            <a:ext cx="4443984" cy="1322085"/>
          </a:xfrm>
          <a:prstGeom prst="rect">
            <a:avLst/>
          </a:prstGeom>
        </p:spPr>
      </p:pic>
      <p:pic>
        <p:nvPicPr>
          <p:cNvPr id="24" name="Picture 23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25418F99-847A-2C40-4A0A-09D8F2413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039" y="1649589"/>
            <a:ext cx="4305300" cy="199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65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16268" cy="8229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256623-E77A-F828-2C9B-DBB3F2CD755E}"/>
              </a:ext>
            </a:extLst>
          </p:cNvPr>
          <p:cNvSpPr txBox="1"/>
          <p:nvPr/>
        </p:nvSpPr>
        <p:spPr>
          <a:xfrm>
            <a:off x="438912" y="2489235"/>
            <a:ext cx="3961192" cy="325113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Autocomplete</a:t>
            </a:r>
          </a:p>
        </p:txBody>
      </p:sp>
      <p:pic>
        <p:nvPicPr>
          <p:cNvPr id="2" name="Picture 1" descr="A screen shot of a computer&#10;&#10;Description automatically generated">
            <a:extLst>
              <a:ext uri="{FF2B5EF4-FFF2-40B4-BE49-F238E27FC236}">
                <a16:creationId xmlns:a16="http://schemas.microsoft.com/office/drawing/2014/main" id="{24B10276-0CEC-5C5D-0334-55EDCCEC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79981"/>
            <a:ext cx="8625838" cy="586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8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8663A4-7F1C-B8E1-34A2-24A329514842}"/>
              </a:ext>
            </a:extLst>
          </p:cNvPr>
          <p:cNvSpPr txBox="1"/>
          <p:nvPr/>
        </p:nvSpPr>
        <p:spPr>
          <a:xfrm>
            <a:off x="1052031" y="889669"/>
            <a:ext cx="4146985" cy="19394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 dirty="0">
                <a:latin typeface="+mj-lt"/>
                <a:ea typeface="+mj-ea"/>
                <a:cs typeface="+mj-cs"/>
              </a:rPr>
              <a:t>Alerte </a:t>
            </a:r>
            <a:r>
              <a:rPr lang="en-US" sz="3800" b="1" kern="1200" dirty="0" err="1">
                <a:latin typeface="+mj-lt"/>
                <a:ea typeface="+mj-ea"/>
                <a:cs typeface="+mj-cs"/>
              </a:rPr>
              <a:t>accesari</a:t>
            </a:r>
            <a:r>
              <a:rPr lang="en-US" sz="38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800" b="1" dirty="0" err="1">
                <a:latin typeface="+mj-lt"/>
                <a:ea typeface="+mj-ea"/>
                <a:cs typeface="+mj-cs"/>
              </a:rPr>
              <a:t>domenii</a:t>
            </a:r>
            <a:endParaRPr lang="en-US" sz="3800" b="1" kern="1200" dirty="0" err="1">
              <a:latin typeface="+mj-lt"/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88AB0-C084-28FC-72A8-15A6C6E2641F}"/>
              </a:ext>
            </a:extLst>
          </p:cNvPr>
          <p:cNvSpPr txBox="1"/>
          <p:nvPr/>
        </p:nvSpPr>
        <p:spPr>
          <a:xfrm>
            <a:off x="1052031" y="3040171"/>
            <a:ext cx="4146985" cy="413739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Mecanismul de detectie a accesarii unui site web din cadrul unei liste anterior definite se face cu ajutorul utilitarului tcpdump pe portul 53 pentru a capta raspunsurile </a:t>
            </a:r>
          </a:p>
        </p:txBody>
      </p:sp>
      <p:pic>
        <p:nvPicPr>
          <p:cNvPr id="2" name="Picture 1" descr="A screen shot of a computer&#10;&#10;Description automatically generated">
            <a:extLst>
              <a:ext uri="{FF2B5EF4-FFF2-40B4-BE49-F238E27FC236}">
                <a16:creationId xmlns:a16="http://schemas.microsoft.com/office/drawing/2014/main" id="{7EF7609D-F979-F3BC-C64A-488D3D168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206" y="1063084"/>
            <a:ext cx="7667215" cy="611460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4482365" y="0"/>
            <a:ext cx="148035" cy="8229600"/>
            <a:chOff x="12068638" y="0"/>
            <a:chExt cx="123362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1576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D4A569F-A401-911B-CCAC-D77C6E59A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555" y="5270842"/>
            <a:ext cx="7315200" cy="984271"/>
          </a:xfrm>
          <a:prstGeom prst="rect">
            <a:avLst/>
          </a:prstGeom>
        </p:spPr>
      </p:pic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E32B70DF-4394-A725-A3D2-3D3A2E2AB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56" y="1772968"/>
            <a:ext cx="7315200" cy="2335576"/>
          </a:xfrm>
          <a:prstGeom prst="rect">
            <a:avLst/>
          </a:prstGeom>
        </p:spPr>
      </p:pic>
      <p:pic>
        <p:nvPicPr>
          <p:cNvPr id="8" name="Picture 7" descr="A computer screen with numbers and numbers&#10;&#10;Description automatically generated">
            <a:extLst>
              <a:ext uri="{FF2B5EF4-FFF2-40B4-BE49-F238E27FC236}">
                <a16:creationId xmlns:a16="http://schemas.microsoft.com/office/drawing/2014/main" id="{A9A1ED86-A7D0-7C37-C570-BA8078F1C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58" y="2210363"/>
            <a:ext cx="5540906" cy="38088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DEBE98-2316-E161-A0C8-8A5E101DCA64}"/>
              </a:ext>
            </a:extLst>
          </p:cNvPr>
          <p:cNvSpPr txBox="1"/>
          <p:nvPr/>
        </p:nvSpPr>
        <p:spPr>
          <a:xfrm>
            <a:off x="370275" y="1418787"/>
            <a:ext cx="552839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ea typeface="Calibri"/>
                <a:cs typeface="Calibri"/>
              </a:rPr>
              <a:t>Comanda</a:t>
            </a:r>
            <a:r>
              <a:rPr lang="en-US" b="1" dirty="0">
                <a:ea typeface="Calibri"/>
                <a:cs typeface="Calibri"/>
              </a:rPr>
              <a:t> log din </a:t>
            </a:r>
            <a:r>
              <a:rPr lang="en-US" b="1" err="1">
                <a:ea typeface="Calibri"/>
                <a:cs typeface="Calibri"/>
              </a:rPr>
              <a:t>cadrul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interfetei</a:t>
            </a:r>
            <a:r>
              <a:rPr lang="en-US" b="1" dirty="0">
                <a:ea typeface="Calibri"/>
                <a:cs typeface="Calibri"/>
              </a:rPr>
              <a:t> server-</a:t>
            </a:r>
            <a:r>
              <a:rPr lang="en-US" b="1" err="1">
                <a:ea typeface="Calibri"/>
                <a:cs typeface="Calibri"/>
              </a:rPr>
              <a:t>ului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afiseaza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continutul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tuturor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fisierelor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alaturi</a:t>
            </a:r>
            <a:r>
              <a:rPr lang="en-US" b="1" dirty="0">
                <a:ea typeface="Calibri"/>
                <a:cs typeface="Calibri"/>
              </a:rPr>
              <a:t> de </a:t>
            </a:r>
            <a:r>
              <a:rPr lang="en-US" b="1" err="1">
                <a:ea typeface="Calibri"/>
                <a:cs typeface="Calibri"/>
              </a:rPr>
              <a:t>numele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acestora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FE923-6F14-3AC1-902D-4CF0328A92E2}"/>
              </a:ext>
            </a:extLst>
          </p:cNvPr>
          <p:cNvSpPr txBox="1"/>
          <p:nvPr/>
        </p:nvSpPr>
        <p:spPr>
          <a:xfrm>
            <a:off x="2791967" y="268224"/>
            <a:ext cx="885139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Mecanisme</a:t>
            </a:r>
            <a:r>
              <a:rPr lang="en-US" sz="4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logging</a:t>
            </a:r>
            <a:endParaRPr lang="en-US" sz="40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7E1E4A-5BD1-2E51-E4F8-900A00840059}"/>
              </a:ext>
            </a:extLst>
          </p:cNvPr>
          <p:cNvSpPr txBox="1"/>
          <p:nvPr/>
        </p:nvSpPr>
        <p:spPr>
          <a:xfrm>
            <a:off x="7059168" y="1255775"/>
            <a:ext cx="69982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Pe </a:t>
            </a:r>
            <a:r>
              <a:rPr lang="en-US" b="1" dirty="0" err="1">
                <a:ea typeface="Calibri"/>
                <a:cs typeface="Calibri"/>
              </a:rPr>
              <a:t>partea</a:t>
            </a:r>
            <a:r>
              <a:rPr lang="en-US" b="1" dirty="0">
                <a:ea typeface="Calibri"/>
                <a:cs typeface="Calibri"/>
              </a:rPr>
              <a:t> de client, </a:t>
            </a:r>
            <a:r>
              <a:rPr lang="en-US" b="1" dirty="0" err="1">
                <a:ea typeface="Calibri"/>
                <a:cs typeface="Calibri"/>
              </a:rPr>
              <a:t>monitorizam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comenzile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primite</a:t>
            </a:r>
            <a:r>
              <a:rPr lang="en-US" b="1" dirty="0">
                <a:ea typeface="Calibri"/>
                <a:cs typeface="Calibri"/>
              </a:rPr>
              <a:t> de la server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B5CEDB-B584-CB84-2160-87F161592C1C}"/>
              </a:ext>
            </a:extLst>
          </p:cNvPr>
          <p:cNvSpPr txBox="1"/>
          <p:nvPr/>
        </p:nvSpPr>
        <p:spPr>
          <a:xfrm>
            <a:off x="7052846" y="4450080"/>
            <a:ext cx="68519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Calibri"/>
                <a:cs typeface="Calibri"/>
              </a:rPr>
              <a:t>Serverul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creeaza</a:t>
            </a:r>
            <a:r>
              <a:rPr lang="en-US" b="1" dirty="0">
                <a:ea typeface="Calibri"/>
                <a:cs typeface="Calibri"/>
              </a:rPr>
              <a:t> un </a:t>
            </a:r>
            <a:r>
              <a:rPr lang="en-US" b="1" dirty="0" err="1">
                <a:ea typeface="Calibri"/>
                <a:cs typeface="Calibri"/>
              </a:rPr>
              <a:t>fisier</a:t>
            </a:r>
            <a:r>
              <a:rPr lang="en-US" b="1" dirty="0">
                <a:ea typeface="Calibri"/>
                <a:cs typeface="Calibri"/>
              </a:rPr>
              <a:t> de log </a:t>
            </a:r>
            <a:r>
              <a:rPr lang="en-US" b="1" dirty="0" err="1">
                <a:ea typeface="Calibri"/>
                <a:cs typeface="Calibri"/>
              </a:rPr>
              <a:t>pentru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fiecare</a:t>
            </a:r>
            <a:r>
              <a:rPr lang="en-US" b="1" dirty="0">
                <a:ea typeface="Calibri"/>
                <a:cs typeface="Calibri"/>
              </a:rPr>
              <a:t> statie </a:t>
            </a:r>
            <a:r>
              <a:rPr lang="en-US" b="1" dirty="0" err="1">
                <a:ea typeface="Calibri"/>
                <a:cs typeface="Calibri"/>
              </a:rPr>
              <a:t>conectata</a:t>
            </a:r>
            <a:r>
              <a:rPr lang="en-US" b="1" dirty="0">
                <a:ea typeface="Calibri"/>
                <a:cs typeface="Calibri"/>
              </a:rPr>
              <a:t> in care </a:t>
            </a:r>
            <a:r>
              <a:rPr lang="en-US" b="1" dirty="0" err="1">
                <a:ea typeface="Calibri"/>
                <a:cs typeface="Calibri"/>
              </a:rPr>
              <a:t>salveaza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raspunsul</a:t>
            </a:r>
            <a:r>
              <a:rPr lang="en-US" b="1" dirty="0">
                <a:ea typeface="Calibri"/>
                <a:cs typeface="Calibri"/>
              </a:rPr>
              <a:t> la </a:t>
            </a:r>
            <a:r>
              <a:rPr lang="en-US" b="1" dirty="0" err="1">
                <a:ea typeface="Calibri"/>
                <a:cs typeface="Calibri"/>
              </a:rPr>
              <a:t>comenzile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trimise</a:t>
            </a:r>
          </a:p>
        </p:txBody>
      </p:sp>
    </p:spTree>
    <p:extLst>
      <p:ext uri="{BB962C8B-B14F-4D97-AF65-F5344CB8AC3E}">
        <p14:creationId xmlns:p14="http://schemas.microsoft.com/office/powerpoint/2010/main" val="886239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4626742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F42ADF9-21C7-9347-CC3E-B8C79EF1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88" r="-1" b="32865"/>
          <a:stretch/>
        </p:blipFill>
        <p:spPr>
          <a:xfrm>
            <a:off x="-3656" y="10"/>
            <a:ext cx="14630398" cy="82295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49122"/>
            <a:ext cx="14630398" cy="3794575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9111912-51DB-9165-2EF8-3F6D9E5B1E71}"/>
              </a:ext>
            </a:extLst>
          </p:cNvPr>
          <p:cNvSpPr/>
          <p:nvPr/>
        </p:nvSpPr>
        <p:spPr>
          <a:xfrm>
            <a:off x="1316736" y="390660"/>
            <a:ext cx="12070080" cy="4289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dirty="0" err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Sfarsit</a:t>
            </a:r>
          </a:p>
        </p:txBody>
      </p:sp>
    </p:spTree>
    <p:extLst>
      <p:ext uri="{BB962C8B-B14F-4D97-AF65-F5344CB8AC3E}">
        <p14:creationId xmlns:p14="http://schemas.microsoft.com/office/powerpoint/2010/main" val="409731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569</cp:revision>
  <dcterms:created xsi:type="dcterms:W3CDTF">2025-01-09T15:31:41Z</dcterms:created>
  <dcterms:modified xsi:type="dcterms:W3CDTF">2025-01-09T18:20:54Z</dcterms:modified>
</cp:coreProperties>
</file>